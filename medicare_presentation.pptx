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D9488"/>
                </a:solidFill>
                <a:latin typeface="Outfit"/>
              </a:defRPr>
            </a:pPr>
            <a:r>
              <a:t>MediCare Reminder System</a:t>
            </a:r>
          </a:p>
          <a:p>
            <a:pPr algn="ctr">
              <a:spcBef>
                <a:spcPts val="1500"/>
              </a:spcBef>
              <a:defRPr sz="2400" b="1">
                <a:solidFill>
                  <a:srgbClr val="FFFFFF"/>
                </a:solidFill>
                <a:latin typeface="Plus Jakarta Sans"/>
              </a:defRPr>
            </a:pPr>
            <a:r>
              <a:t>Your Health, Our Priority</a:t>
            </a:r>
          </a:p>
          <a:p>
            <a:pPr algn="ctr">
              <a:spcBef>
                <a:spcPts val="1000"/>
              </a:spcBef>
              <a:defRPr sz="1600">
                <a:solidFill>
                  <a:srgbClr val="9CA3AF"/>
                </a:solidFill>
                <a:latin typeface="Plus Jakarta Sans"/>
              </a:defRPr>
            </a:pPr>
            <a:r>
              <a:t>Project Presentation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D9488"/>
                </a:solidFill>
                <a:latin typeface="Outfit"/>
              </a:defRPr>
            </a:pPr>
            <a:r>
              <a:t>1. Abstract of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FFFFFF"/>
                </a:solidFill>
                <a:latin typeface="Plus Jakarta Sans"/>
              </a:defRPr>
            </a:pPr>
            <a:r>
              <a:t>The MediCare Reminder System (Aegis Health) is an offline-first, highly responsive web application built to enhance medication compliance and ensure safety for elderly patients.</a:t>
            </a:r>
          </a:p>
          <a:p>
            <a:pPr>
              <a:spcAft>
                <a:spcPts val="1000"/>
              </a:spcAft>
              <a:defRPr sz="1800" b="1">
                <a:solidFill>
                  <a:srgbClr val="0D9488"/>
                </a:solidFill>
                <a:latin typeface="Outfit"/>
              </a:defRPr>
            </a:pPr>
            <a:r>
              <a:t>Key highlights include:</a:t>
            </a:r>
          </a:p>
          <a:p>
            <a:pPr>
              <a:spcAft>
                <a:spcPts val="800"/>
              </a:spcAft>
              <a:defRPr sz="1600">
                <a:solidFill>
                  <a:srgbClr val="9CA3AF"/>
                </a:solidFill>
                <a:latin typeface="Plus Jakarta Sans"/>
              </a:defRPr>
            </a:pPr>
            <a:r>
              <a:t>• Optimistic UI updates through local Firestore IndexedDB caching, eliminating database save lags.</a:t>
            </a:r>
          </a:p>
          <a:p>
            <a:pPr>
              <a:spcAft>
                <a:spcPts val="800"/>
              </a:spcAft>
              <a:defRPr sz="1600">
                <a:solidFill>
                  <a:srgbClr val="9CA3AF"/>
                </a:solidFill>
                <a:latin typeface="Plus Jakarta Sans"/>
              </a:defRPr>
            </a:pPr>
            <a:r>
              <a:t>• Dynamic multi-language support localized in Telugu and Hindi for dynamic checkboxes and details.</a:t>
            </a:r>
          </a:p>
          <a:p>
            <a:pPr>
              <a:spcAft>
                <a:spcPts val="800"/>
              </a:spcAft>
              <a:defRPr sz="1600">
                <a:solidFill>
                  <a:srgbClr val="9CA3AF"/>
                </a:solidFill>
                <a:latin typeface="Plus Jakarta Sans"/>
              </a:defRPr>
            </a:pPr>
            <a:r>
              <a:t>• Tactile dose reminders with built-in instant dialing links for primary doctors and emergency caretakers.</a:t>
            </a:r>
          </a:p>
          <a:p>
            <a:pPr>
              <a:spcAft>
                <a:spcPts val="800"/>
              </a:spcAft>
              <a:defRPr sz="1600">
                <a:solidFill>
                  <a:srgbClr val="9CA3AF"/>
                </a:solidFill>
                <a:latin typeface="Plus Jakarta Sans"/>
              </a:defRPr>
            </a:pPr>
            <a:r>
              <a:t>• Emergency SOS triggers linked to real-time caregiver grids to monitor compliance and check-ups.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D9488"/>
                </a:solidFill>
                <a:latin typeface="Outfit"/>
              </a:defRPr>
            </a:pPr>
            <a: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9CA3AF"/>
                </a:solidFill>
                <a:latin typeface="Plus Jakarta Sans"/>
              </a:defRPr>
            </a:pPr>
            <a:r>
              <a:t>Seniors and patients facing complex prescription schedules encounter high safety risks due to several challenges:</a:t>
            </a:r>
          </a:p>
          <a:p>
            <a:pPr>
              <a:spcBef>
                <a:spcPts val="800"/>
              </a:spcBef>
              <a:defRPr sz="1800" b="1">
                <a:solidFill>
                  <a:srgbClr val="F43F5E"/>
                </a:solidFill>
                <a:latin typeface="Outfit"/>
              </a:defRPr>
            </a:pPr>
            <a:r>
              <a:t>• Medication Forgetfulness</a:t>
            </a:r>
          </a:p>
          <a:p>
            <a:pPr>
              <a:defRPr sz="1500">
                <a:solidFill>
                  <a:srgbClr val="FFFFFF"/>
                </a:solidFill>
                <a:latin typeface="Plus Jakarta Sans"/>
              </a:defRPr>
            </a:pPr>
            <a:r>
              <a:t>   Elderly patients skip scheduled doses or double-dose medication due to cognitive or memory declines.</a:t>
            </a:r>
          </a:p>
          <a:p>
            <a:pPr>
              <a:spcBef>
                <a:spcPts val="800"/>
              </a:spcBef>
              <a:defRPr sz="1800" b="1">
                <a:solidFill>
                  <a:srgbClr val="F43F5E"/>
                </a:solidFill>
                <a:latin typeface="Outfit"/>
              </a:defRPr>
            </a:pPr>
            <a:r>
              <a:t>• Sluggish Portal Latencies</a:t>
            </a:r>
          </a:p>
          <a:p>
            <a:pPr>
              <a:defRPr sz="1500">
                <a:solidFill>
                  <a:srgbClr val="FFFFFF"/>
                </a:solidFill>
                <a:latin typeface="Plus Jakarta Sans"/>
              </a:defRPr>
            </a:pPr>
            <a:r>
              <a:t>   Standard online portals block the UI and lag when trying to save data during unstable network operations.</a:t>
            </a:r>
          </a:p>
          <a:p>
            <a:pPr>
              <a:spcBef>
                <a:spcPts val="800"/>
              </a:spcBef>
              <a:defRPr sz="1800" b="1">
                <a:solidFill>
                  <a:srgbClr val="F43F5E"/>
                </a:solidFill>
                <a:latin typeface="Outfit"/>
              </a:defRPr>
            </a:pPr>
            <a:r>
              <a:t>• No Direct Dials in Emergency</a:t>
            </a:r>
          </a:p>
          <a:p>
            <a:pPr>
              <a:defRPr sz="1500">
                <a:solidFill>
                  <a:srgbClr val="FFFFFF"/>
                </a:solidFill>
                <a:latin typeface="Plus Jakarta Sans"/>
              </a:defRPr>
            </a:pPr>
            <a:r>
              <a:t>   Traditional checklists do not offer instant emergency calling features for caregivers or doctors during crises.</a:t>
            </a:r>
          </a:p>
          <a:p>
            <a:pPr>
              <a:spcBef>
                <a:spcPts val="800"/>
              </a:spcBef>
              <a:defRPr sz="1800" b="1">
                <a:solidFill>
                  <a:srgbClr val="F43F5E"/>
                </a:solidFill>
                <a:latin typeface="Outfit"/>
              </a:defRPr>
            </a:pPr>
            <a:r>
              <a:t>• Lack of Localization</a:t>
            </a:r>
          </a:p>
          <a:p>
            <a:pPr>
              <a:defRPr sz="1500">
                <a:solidFill>
                  <a:srgbClr val="FFFFFF"/>
                </a:solidFill>
                <a:latin typeface="Plus Jakarta Sans"/>
              </a:defRPr>
            </a:pPr>
            <a:r>
              <a:t>   Important instructions and checklists do not translate dynamic database entries into local languages (Telugu &amp; Hindi).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D9488"/>
                </a:solidFill>
                <a:latin typeface="Outfit"/>
              </a:defRPr>
            </a:pPr>
            <a:r>
              <a:t>3. Existing and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F43F5E"/>
                </a:solidFill>
                <a:latin typeface="Outfit"/>
              </a:defRPr>
            </a:pPr>
            <a:r>
              <a:t>Existing Systems</a:t>
            </a:r>
          </a:p>
          <a:p>
            <a:pPr>
              <a:spcAft>
                <a:spcPts val="1000"/>
              </a:spcAft>
              <a:defRPr sz="1500">
                <a:solidFill>
                  <a:srgbClr val="9CA3AF"/>
                </a:solidFill>
                <a:latin typeface="Plus Jakarta Sans"/>
              </a:defRPr>
            </a:pPr>
            <a:r>
              <a:t>• Manual paper logs or static spreadsheets subject to loss or misplacement.</a:t>
            </a:r>
          </a:p>
          <a:p>
            <a:pPr>
              <a:spcAft>
                <a:spcPts val="1000"/>
              </a:spcAft>
              <a:defRPr sz="1500">
                <a:solidFill>
                  <a:srgbClr val="9CA3AF"/>
                </a:solidFill>
                <a:latin typeface="Plus Jakarta Sans"/>
              </a:defRPr>
            </a:pPr>
            <a:r>
              <a:t>• Cloud-only apps that freeze during slow internet operations and throw database errors.</a:t>
            </a:r>
          </a:p>
          <a:p>
            <a:pPr>
              <a:spcAft>
                <a:spcPts val="1000"/>
              </a:spcAft>
              <a:defRPr sz="1500">
                <a:solidFill>
                  <a:srgbClr val="9CA3AF"/>
                </a:solidFill>
                <a:latin typeface="Plus Jakarta Sans"/>
              </a:defRPr>
            </a:pPr>
            <a:r>
              <a:t>• Static checklists that cannot be easily read aloud or customized.</a:t>
            </a:r>
          </a:p>
          <a:p>
            <a:pPr>
              <a:spcAft>
                <a:spcPts val="1000"/>
              </a:spcAft>
              <a:defRPr sz="1500">
                <a:solidFill>
                  <a:srgbClr val="9CA3AF"/>
                </a:solidFill>
                <a:latin typeface="Plus Jakarta Sans"/>
              </a:defRPr>
            </a:pPr>
            <a:r>
              <a:t>• English-only platforms that pose barriers to rural or regional elderly users.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0D9488"/>
                </a:solidFill>
                <a:latin typeface="Outfit"/>
              </a:defRPr>
            </a:pPr>
            <a:r>
              <a:t>Proposed System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Plus Jakarta Sans"/>
              </a:defRPr>
            </a:pPr>
            <a:r>
              <a:t>✓ Zero-Lag optimistic saving backed by Firestore Offline Persistence.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Plus Jakarta Sans"/>
              </a:defRPr>
            </a:pPr>
            <a:r>
              <a:t>✓ Instant tactile feedback: 50ms active button scale transitions and 100ms snappy modal openings.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Plus Jakarta Sans"/>
              </a:defRPr>
            </a:pPr>
            <a:r>
              <a:t>✓ Built-in Speak Aloud reader, Double Doctor Dialing button, and one-tap SOS Emergency modal.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Plus Jakarta Sans"/>
              </a:defRPr>
            </a:pPr>
            <a:r>
              <a:t>✓ Dynamic localization translating state checklists fully in Telugu and Hindi.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D9488"/>
                </a:solidFill>
                <a:latin typeface="Outfit"/>
              </a:defRPr>
            </a:pPr>
            <a:r>
              <a:t>4. Hardware and Software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0D9488"/>
                </a:solidFill>
                <a:latin typeface="Outfit"/>
              </a:defRPr>
            </a:pPr>
            <a:r>
              <a:t>Hardware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Plus Jakarta Sans"/>
              </a:defRPr>
            </a:pPr>
            <a:r>
              <a:t>• Patient / Caretaker Device: Mobile, Tablet, Laptop, or PC.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Plus Jakarta Sans"/>
              </a:defRPr>
            </a:pPr>
            <a:r>
              <a:t>• Processor: Intel Core i3 or similar Mobile SoC.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Plus Jakarta Sans"/>
              </a:defRPr>
            </a:pPr>
            <a:r>
              <a:t>• RAM: 2 GB minimum (4 GB recommended).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Plus Jakarta Sans"/>
              </a:defRPr>
            </a:pPr>
            <a:r>
              <a:t>• Storage: 100 MB available local disk storage.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Plus Jakarta Sans"/>
              </a:defRPr>
            </a:pPr>
            <a:r>
              <a:t>• Display: Touchscreen display (for mobile usability).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0D9488"/>
                </a:solidFill>
                <a:latin typeface="Outfit"/>
              </a:defRPr>
            </a:pPr>
            <a:r>
              <a:t>Software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Plus Jakarta Sans"/>
              </a:defRPr>
            </a:pPr>
            <a:r>
              <a:t>• Operating System: Windows 10/11, macOS, Android, or iOS.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Plus Jakarta Sans"/>
              </a:defRPr>
            </a:pPr>
            <a:r>
              <a:t>• Web Browser: Google Chrome, Safari, Firefox, or Microsoft Edge.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Plus Jakarta Sans"/>
              </a:defRPr>
            </a:pPr>
            <a:r>
              <a:t>• Development Stack: HTML5, CSS3 (Vanilla), ES6+ Javascript.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Plus Jakarta Sans"/>
              </a:defRPr>
            </a:pPr>
            <a:r>
              <a:t>• Database Layer: Cloud Firestore &amp; Local browser IndexedDB.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Plus Jakarta Sans"/>
              </a:defRPr>
            </a:pPr>
            <a:r>
              <a:t>• Hosting Environment: Vercel Production Server.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D9488"/>
                </a:solidFill>
                <a:latin typeface="Outfit"/>
              </a:defRPr>
            </a:pPr>
            <a:r>
              <a:t>5.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9CA3AF"/>
                </a:solidFill>
                <a:latin typeface="Plus Jakarta Sans"/>
              </a:defRPr>
            </a:pPr>
            <a:r>
              <a:t>The platform implements a client-side architecture backed by background database synchronization modules:</a:t>
            </a:r>
          </a:p>
          <a:p>
            <a:pPr>
              <a:spcBef>
                <a:spcPts val="800"/>
              </a:spcBef>
              <a:defRPr sz="1800" b="1">
                <a:solidFill>
                  <a:srgbClr val="0D9488"/>
                </a:solidFill>
                <a:latin typeface="Outfit"/>
              </a:defRPr>
            </a:pPr>
            <a:r>
              <a:t>1. User Interface Layer (HTML5/CSS3)</a:t>
            </a:r>
          </a:p>
          <a:p>
            <a:pPr>
              <a:defRPr sz="1500">
                <a:solidFill>
                  <a:srgbClr val="FFFFFF"/>
                </a:solidFill>
                <a:latin typeface="Plus Jakarta Sans"/>
              </a:defRPr>
            </a:pPr>
            <a:r>
              <a:t>   Captures direct tap events, displays checklists, handles language changes, and animates alarms in 100ms.</a:t>
            </a:r>
          </a:p>
          <a:p>
            <a:pPr>
              <a:spcBef>
                <a:spcPts val="800"/>
              </a:spcBef>
              <a:defRPr sz="1800" b="1">
                <a:solidFill>
                  <a:srgbClr val="0D9488"/>
                </a:solidFill>
                <a:latin typeface="Outfit"/>
              </a:defRPr>
            </a:pPr>
            <a:r>
              <a:t>2. Local Persistence Store (IndexedDB Cache)</a:t>
            </a:r>
          </a:p>
          <a:p>
            <a:pPr>
              <a:defRPr sz="1500">
                <a:solidFill>
                  <a:srgbClr val="FFFFFF"/>
                </a:solidFill>
                <a:latin typeface="Plus Jakarta Sans"/>
              </a:defRPr>
            </a:pPr>
            <a:r>
              <a:t>   Maintains offline copy of user state. Reads and writes update here immediately, preventing thread blockages.</a:t>
            </a:r>
          </a:p>
          <a:p>
            <a:pPr>
              <a:spcBef>
                <a:spcPts val="800"/>
              </a:spcBef>
              <a:defRPr sz="1800" b="1">
                <a:solidFill>
                  <a:srgbClr val="0D9488"/>
                </a:solidFill>
                <a:latin typeface="Outfit"/>
              </a:defRPr>
            </a:pPr>
            <a:r>
              <a:t>3. Cloud Sync Manager (Firestore Engine)</a:t>
            </a:r>
          </a:p>
          <a:p>
            <a:pPr>
              <a:defRPr sz="1500">
                <a:solidFill>
                  <a:srgbClr val="FFFFFF"/>
                </a:solidFill>
                <a:latin typeface="Plus Jakarta Sans"/>
              </a:defRPr>
            </a:pPr>
            <a:r>
              <a:t>   Handles credentials, caregiver monitoring updates, and state syncing. Automatically falls back to local storage if network fails.</a:t>
            </a:r>
          </a:p>
          <a:p>
            <a:pPr>
              <a:spcBef>
                <a:spcPts val="800"/>
              </a:spcBef>
              <a:defRPr sz="1800" b="1">
                <a:solidFill>
                  <a:srgbClr val="0D9488"/>
                </a:solidFill>
                <a:latin typeface="Outfit"/>
              </a:defRPr>
            </a:pPr>
            <a:r>
              <a:t>4. Caregiver Live Grid</a:t>
            </a:r>
          </a:p>
          <a:p>
            <a:pPr>
              <a:defRPr sz="1500">
                <a:solidFill>
                  <a:srgbClr val="FFFFFF"/>
                </a:solidFill>
                <a:latin typeface="Plus Jakarta Sans"/>
              </a:defRPr>
            </a:pPr>
            <a:r>
              <a:t>   Listens dynamically to states updates to output compliance metrics, streaks, and check-up notifications.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D9488"/>
                </a:solidFill>
                <a:latin typeface="Outfit"/>
              </a:defRPr>
            </a:pPr>
            <a:r>
              <a:t>6. Front End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CA3AF"/>
                </a:solidFill>
                <a:latin typeface="Plus Jakarta Sans"/>
              </a:defRPr>
            </a:pPr>
            <a:r>
              <a:t>The user interface utilizes a responsive card layout with direct dialing, alarm overlays, and siren alerts:</a:t>
            </a:r>
          </a:p>
        </p:txBody>
      </p:sp>
      <p:pic>
        <p:nvPicPr>
          <p:cNvPr id="4" name="Picture 3" descr="splash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28800"/>
            <a:ext cx="201168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5989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Outfit"/>
              </a:defRPr>
            </a:pPr>
            <a:r>
              <a:t>Splash Screen</a:t>
            </a:r>
          </a:p>
        </p:txBody>
      </p:sp>
      <p:pic>
        <p:nvPicPr>
          <p:cNvPr id="6" name="Picture 5" descr="dose_d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286000"/>
            <a:ext cx="347472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0" y="5532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Outfit"/>
              </a:defRPr>
            </a:pPr>
            <a:r>
              <a:t>Dose Due Alert Overlay</a:t>
            </a:r>
          </a:p>
        </p:txBody>
      </p:sp>
      <p:pic>
        <p:nvPicPr>
          <p:cNvPr id="8" name="Picture 7" descr="sos_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286000"/>
            <a:ext cx="3474720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5532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Outfit"/>
              </a:defRPr>
            </a:pPr>
            <a:r>
              <a:t>Emergency SOS Modal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D9488"/>
                </a:solidFill>
                <a:latin typeface="Outfit"/>
              </a:defRPr>
            </a:pPr>
            <a:r>
              <a:t>Healthcare Adherence Re-imagined</a:t>
            </a:r>
          </a:p>
          <a:p>
            <a:pPr algn="ctr">
              <a:spcBef>
                <a:spcPts val="1500"/>
              </a:spcBef>
              <a:defRPr sz="2000" b="1">
                <a:solidFill>
                  <a:srgbClr val="FFFFFF"/>
                </a:solidFill>
                <a:latin typeface="Plus Jakarta Sans"/>
              </a:defRPr>
            </a:pPr>
            <a:r>
              <a:t>Offline-First, Zero click latency, and Immediate Caretaker SOS Alerts</a:t>
            </a:r>
          </a:p>
          <a:p>
            <a:pPr algn="ctr">
              <a:spcBef>
                <a:spcPts val="1000"/>
              </a:spcBef>
              <a:defRPr sz="1600">
                <a:solidFill>
                  <a:srgbClr val="9CA3AF"/>
                </a:solidFill>
                <a:latin typeface="Plus Jakarta Sans"/>
              </a:defRPr>
            </a:pPr>
            <a:r>
              <a:t>Live Deployment: medicine-reminder-navy-phi.vercel.app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