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D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011680"/>
            <a:ext cx="10360152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0D9488"/>
                </a:solidFill>
                <a:latin typeface="Outfit"/>
              </a:defRPr>
            </a:pPr>
            <a:r>
              <a:t>MediCare Reminder System</a:t>
            </a:r>
          </a:p>
          <a:p>
            <a:pPr algn="ctr">
              <a:spcBef>
                <a:spcPts val="1500"/>
              </a:spcBef>
              <a:defRPr sz="2400" b="1">
                <a:solidFill>
                  <a:srgbClr val="FFFFFF"/>
                </a:solidFill>
                <a:latin typeface="Plus Jakarta Sans"/>
              </a:defRPr>
            </a:pPr>
            <a:r>
              <a:t>Your Health, Our Priority</a:t>
            </a:r>
          </a:p>
          <a:p>
            <a:pPr algn="ctr">
              <a:spcBef>
                <a:spcPts val="1000"/>
              </a:spcBef>
              <a:defRPr sz="1600">
                <a:solidFill>
                  <a:srgbClr val="9CA3AF"/>
                </a:solidFill>
                <a:latin typeface="Plus Jakarta Sans"/>
              </a:defRPr>
            </a:pPr>
            <a:r>
              <a:t>Offline-First Medicine Adherence &amp; Safety Platform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D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3601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D9488"/>
                </a:solidFill>
                <a:latin typeface="Outfit"/>
              </a:defRPr>
            </a:pPr>
            <a:r>
              <a:t>The Problem We Solve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60152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  <a:defRPr sz="1800">
                <a:solidFill>
                  <a:srgbClr val="9CA3AF"/>
                </a:solidFill>
                <a:latin typeface="Plus Jakarta Sans"/>
              </a:defRPr>
            </a:pPr>
            <a:r>
              <a:t>Elderly medication non-adherence and delayed responses to critical health events lead to high safety risks.</a:t>
            </a:r>
          </a:p>
          <a:p>
            <a:pPr>
              <a:spcBef>
                <a:spcPts val="1000"/>
              </a:spcBef>
              <a:defRPr sz="2000" b="1">
                <a:solidFill>
                  <a:srgbClr val="F43F5E"/>
                </a:solidFill>
                <a:latin typeface="Outfit"/>
              </a:defRPr>
            </a:pPr>
            <a:r>
              <a:t>• Elderly Forgetfulness &amp; Safety Risks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  <a:latin typeface="Plus Jakarta Sans"/>
              </a:defRPr>
            </a:pPr>
            <a:r>
              <a:t>   Seniors frequently miss due doses, take wrong quantities, or double-dose medication due to memory loss.</a:t>
            </a:r>
          </a:p>
          <a:p>
            <a:pPr>
              <a:spcBef>
                <a:spcPts val="1000"/>
              </a:spcBef>
              <a:defRPr sz="2000" b="1">
                <a:solidFill>
                  <a:srgbClr val="F43F5E"/>
                </a:solidFill>
                <a:latin typeface="Outfit"/>
              </a:defRPr>
            </a:pPr>
            <a:r>
              <a:t>• No Direct Emergency Triggers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  <a:latin typeface="Plus Jakarta Sans"/>
              </a:defRPr>
            </a:pPr>
            <a:r>
              <a:t>   Lack of easy-access emergency contacts, helpline numbers, or direct call buttons to doctors in times of immediate crisis.</a:t>
            </a:r>
          </a:p>
          <a:p>
            <a:pPr>
              <a:spcBef>
                <a:spcPts val="1000"/>
              </a:spcBef>
              <a:defRPr sz="2000" b="1">
                <a:solidFill>
                  <a:srgbClr val="F43F5E"/>
                </a:solidFill>
                <a:latin typeface="Outfit"/>
              </a:defRPr>
            </a:pPr>
            <a:r>
              <a:t>• Laggy Apps &amp; Offline Issues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  <a:latin typeface="Plus Jakarta Sans"/>
              </a:defRPr>
            </a:pPr>
            <a:r>
              <a:t>   Traditional online health platforms fail, freeze, or lag when internet connectivity fluctuates, leading to data syncing failures.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D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3601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D9488"/>
                </a:solidFill>
                <a:latin typeface="Outfit"/>
              </a:defRPr>
            </a:pPr>
            <a:r>
              <a:t>The Aegis Innovation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60152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  <a:defRPr sz="1800">
                <a:solidFill>
                  <a:srgbClr val="9CA3AF"/>
                </a:solidFill>
                <a:latin typeface="Plus Jakarta Sans"/>
              </a:defRPr>
            </a:pPr>
            <a:r>
              <a:t>A modern, highly optimized wellness companion designed to act immediately in any scenario.</a:t>
            </a:r>
          </a:p>
          <a:p>
            <a:pPr>
              <a:spcBef>
                <a:spcPts val="1000"/>
              </a:spcBef>
              <a:defRPr sz="2000" b="1">
                <a:solidFill>
                  <a:srgbClr val="0D9488"/>
                </a:solidFill>
                <a:latin typeface="Outfit"/>
              </a:defRPr>
            </a:pPr>
            <a:r>
              <a:t>• Zero-Lag Offline Persistence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  <a:latin typeface="Plus Jakarta Sans"/>
              </a:defRPr>
            </a:pPr>
            <a:r>
              <a:t>   Firestore IndexedDB local sync updates the UI immediately. Actions are recorded instantly and synced later when connection returns.</a:t>
            </a:r>
          </a:p>
          <a:p>
            <a:pPr>
              <a:spcBef>
                <a:spcPts val="1000"/>
              </a:spcBef>
              <a:defRPr sz="2000" b="1">
                <a:solidFill>
                  <a:srgbClr val="0D9488"/>
                </a:solidFill>
                <a:latin typeface="Outfit"/>
              </a:defRPr>
            </a:pPr>
            <a:r>
              <a:t>• One-Click Emergency Call &amp; SOS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  <a:latin typeface="Plus Jakarta Sans"/>
              </a:defRPr>
            </a:pPr>
            <a:r>
              <a:t>   Direct doctor calling links and a dedicated SOS interface play loud siren warnings and alert linked caregivers immediately.</a:t>
            </a:r>
          </a:p>
          <a:p>
            <a:pPr>
              <a:spcBef>
                <a:spcPts val="1000"/>
              </a:spcBef>
              <a:defRPr sz="2000" b="1">
                <a:solidFill>
                  <a:srgbClr val="0D9488"/>
                </a:solidFill>
                <a:latin typeface="Outfit"/>
              </a:defRPr>
            </a:pPr>
            <a:r>
              <a:t>• Dynamic Multi-Language System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  <a:latin typeface="Plus Jakarta Sans"/>
              </a:defRPr>
            </a:pPr>
            <a:r>
              <a:t>   Full custom Telugu &amp; Hindi dynamically localized interfaces. Even dynamic checklists update in the native selected language.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D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3601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D9488"/>
                </a:solidFill>
                <a:latin typeface="Outfit"/>
              </a:defRPr>
            </a:pPr>
            <a:r>
              <a:t>Modern Splash &amp; Branding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800" b="1">
                <a:solidFill>
                  <a:srgbClr val="0D9488"/>
                </a:solidFill>
                <a:latin typeface="Outfit"/>
              </a:defRPr>
            </a:pPr>
            <a:r>
              <a:t>• Curated Dark Theme UI</a:t>
            </a:r>
          </a:p>
          <a:p>
            <a:pPr>
              <a:spcAft>
                <a:spcPts val="1000"/>
              </a:spcAft>
              <a:defRPr sz="1500">
                <a:solidFill>
                  <a:srgbClr val="FFFFFF"/>
                </a:solidFill>
                <a:latin typeface="Plus Jakarta Sans"/>
              </a:defRPr>
            </a:pPr>
            <a:r>
              <a:t>   Deep charcoal gradient backgrounds and bright, high-contrast cyan indicators ensure readability for senior eyes.</a:t>
            </a:r>
          </a:p>
          <a:p>
            <a:pPr>
              <a:spcBef>
                <a:spcPts val="1000"/>
              </a:spcBef>
              <a:defRPr sz="1800" b="1">
                <a:solidFill>
                  <a:srgbClr val="0D9488"/>
                </a:solidFill>
                <a:latin typeface="Outfit"/>
              </a:defRPr>
            </a:pPr>
            <a:r>
              <a:t>• Responsive Smartphone Interface</a:t>
            </a:r>
          </a:p>
          <a:p>
            <a:pPr>
              <a:spcAft>
                <a:spcPts val="1000"/>
              </a:spcAft>
              <a:defRPr sz="1500">
                <a:solidFill>
                  <a:srgbClr val="FFFFFF"/>
                </a:solidFill>
                <a:latin typeface="Plus Jakarta Sans"/>
              </a:defRPr>
            </a:pPr>
            <a:r>
              <a:t>   Built to adapt natively to all smartphone viewports, offering a premium and uncluttered dashboard access portal.</a:t>
            </a:r>
          </a:p>
          <a:p>
            <a:pPr>
              <a:spcBef>
                <a:spcPts val="1000"/>
              </a:spcBef>
              <a:defRPr sz="1800" b="1">
                <a:solidFill>
                  <a:srgbClr val="0D9488"/>
                </a:solidFill>
                <a:latin typeface="Outfit"/>
              </a:defRPr>
            </a:pPr>
            <a:r>
              <a:t>• Patient &amp; Caregiver Sign-ins</a:t>
            </a:r>
          </a:p>
          <a:p>
            <a:pPr>
              <a:spcAft>
                <a:spcPts val="1000"/>
              </a:spcAft>
              <a:defRPr sz="1500">
                <a:solidFill>
                  <a:srgbClr val="FFFFFF"/>
                </a:solidFill>
                <a:latin typeface="Plus Jakarta Sans"/>
              </a:defRPr>
            </a:pPr>
            <a:r>
              <a:t>   Unified entry portal allows fast switching between patient tracker and caretaker monitoring screens.</a:t>
            </a:r>
          </a:p>
        </p:txBody>
      </p:sp>
      <p:pic>
        <p:nvPicPr>
          <p:cNvPr id="4" name="Picture 3" descr="splash_sc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0" y="1097280"/>
            <a:ext cx="2377440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D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3601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D9488"/>
                </a:solidFill>
                <a:latin typeface="Outfit"/>
              </a:defRPr>
            </a:pPr>
            <a:r>
              <a:t>Tactile Medication Reminders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800" b="1">
                <a:solidFill>
                  <a:srgbClr val="0D9488"/>
                </a:solidFill>
                <a:latin typeface="Outfit"/>
              </a:defRPr>
            </a:pPr>
            <a:r>
              <a:t>• Overlay Alarm Modal</a:t>
            </a:r>
          </a:p>
          <a:p>
            <a:pPr>
              <a:spcAft>
                <a:spcPts val="1000"/>
              </a:spcAft>
              <a:defRPr sz="1500">
                <a:solidFill>
                  <a:srgbClr val="FFFFFF"/>
                </a:solidFill>
                <a:latin typeface="Plus Jakarta Sans"/>
              </a:defRPr>
            </a:pPr>
            <a:r>
              <a:t>   Due alerts overlay the dashboard instantly. Clearly highlights medication name, type, and specific dosage values.</a:t>
            </a:r>
          </a:p>
          <a:p>
            <a:pPr>
              <a:spcBef>
                <a:spcPts val="1000"/>
              </a:spcBef>
              <a:defRPr sz="1800" b="1">
                <a:solidFill>
                  <a:srgbClr val="0D9488"/>
                </a:solidFill>
                <a:latin typeface="Outfit"/>
              </a:defRPr>
            </a:pPr>
            <a:r>
              <a:t>• Direct Calling &amp; Snooze</a:t>
            </a:r>
          </a:p>
          <a:p>
            <a:pPr>
              <a:spcAft>
                <a:spcPts val="1000"/>
              </a:spcAft>
              <a:defRPr sz="1500">
                <a:solidFill>
                  <a:srgbClr val="FFFFFF"/>
                </a:solidFill>
                <a:latin typeface="Plus Jakarta Sans"/>
              </a:defRPr>
            </a:pPr>
            <a:r>
              <a:t>   Provides call doctor buttons alongside quick 10-minute snooze actions to prevent critical missed pills.</a:t>
            </a:r>
          </a:p>
          <a:p>
            <a:pPr>
              <a:spcBef>
                <a:spcPts val="1000"/>
              </a:spcBef>
              <a:defRPr sz="1800" b="1">
                <a:solidFill>
                  <a:srgbClr val="0D9488"/>
                </a:solidFill>
                <a:latin typeface="Outfit"/>
              </a:defRPr>
            </a:pPr>
            <a:r>
              <a:t>• Snappy Interaction Speed</a:t>
            </a:r>
          </a:p>
          <a:p>
            <a:pPr>
              <a:spcAft>
                <a:spcPts val="1000"/>
              </a:spcAft>
              <a:defRPr sz="1500">
                <a:solidFill>
                  <a:srgbClr val="FFFFFF"/>
                </a:solidFill>
                <a:latin typeface="Plus Jakarta Sans"/>
              </a:defRPr>
            </a:pPr>
            <a:r>
              <a:t>   0.05s touch feedback active scales and 100ms modal transition animations ensure buttons respond immediately on tap.</a:t>
            </a:r>
          </a:p>
        </p:txBody>
      </p:sp>
      <p:pic>
        <p:nvPicPr>
          <p:cNvPr id="4" name="Picture 3" descr="dose_d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645920"/>
            <a:ext cx="4389120" cy="38862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D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3601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D9488"/>
                </a:solidFill>
                <a:latin typeface="Outfit"/>
              </a:defRPr>
            </a:pPr>
            <a:r>
              <a:t>SOS Emergency Alert 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800" b="1">
                <a:solidFill>
                  <a:srgbClr val="0D9488"/>
                </a:solidFill>
                <a:latin typeface="Outfit"/>
              </a:defRPr>
            </a:pPr>
            <a:r>
              <a:t>• Instant Alarm Sound</a:t>
            </a:r>
          </a:p>
          <a:p>
            <a:pPr>
              <a:spcAft>
                <a:spcPts val="1000"/>
              </a:spcAft>
              <a:defRPr sz="1500">
                <a:solidFill>
                  <a:srgbClr val="FFFFFF"/>
                </a:solidFill>
                <a:latin typeface="Plus Jakarta Sans"/>
              </a:defRPr>
            </a:pPr>
            <a:r>
              <a:t>   SOS triggers local sirens, warns caregivers, and pops up the high-volume active emergency dashboard.</a:t>
            </a:r>
          </a:p>
          <a:p>
            <a:pPr>
              <a:spcBef>
                <a:spcPts val="1000"/>
              </a:spcBef>
              <a:defRPr sz="1800" b="1">
                <a:solidFill>
                  <a:srgbClr val="0D9488"/>
                </a:solidFill>
                <a:latin typeface="Outfit"/>
              </a:defRPr>
            </a:pPr>
            <a:r>
              <a:t>• One-Tap Doctor &amp; Caregiver Dials</a:t>
            </a:r>
          </a:p>
          <a:p>
            <a:pPr>
              <a:spcAft>
                <a:spcPts val="1000"/>
              </a:spcAft>
              <a:defRPr sz="1500">
                <a:solidFill>
                  <a:srgbClr val="FFFFFF"/>
                </a:solidFill>
                <a:latin typeface="Plus Jakarta Sans"/>
              </a:defRPr>
            </a:pPr>
            <a:r>
              <a:t>   Lists primary caregiver, doctor, and public helplines (108 / 112) with click-to-dial links.</a:t>
            </a:r>
          </a:p>
          <a:p>
            <a:pPr>
              <a:spcBef>
                <a:spcPts val="1000"/>
              </a:spcBef>
              <a:defRPr sz="1800" b="1">
                <a:solidFill>
                  <a:srgbClr val="0D9488"/>
                </a:solidFill>
                <a:latin typeface="Outfit"/>
              </a:defRPr>
            </a:pPr>
            <a:r>
              <a:t>• Safe Deactivation Action</a:t>
            </a:r>
          </a:p>
          <a:p>
            <a:pPr>
              <a:spcAft>
                <a:spcPts val="1000"/>
              </a:spcAft>
              <a:defRPr sz="1500">
                <a:solidFill>
                  <a:srgbClr val="FFFFFF"/>
                </a:solidFill>
                <a:latin typeface="Plus Jakarta Sans"/>
              </a:defRPr>
            </a:pPr>
            <a:r>
              <a:t>   Bold 'Stop Alarm &amp; Deactivate' button gives patients a fast path to dismiss alerts once safe.</a:t>
            </a:r>
          </a:p>
        </p:txBody>
      </p:sp>
      <p:pic>
        <p:nvPicPr>
          <p:cNvPr id="4" name="Picture 3" descr="sos_ale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645920"/>
            <a:ext cx="4389120" cy="38862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D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3601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D9488"/>
                </a:solidFill>
                <a:latin typeface="Outfit"/>
              </a:defRPr>
            </a:pPr>
            <a:r>
              <a:t>Technical Highlights &amp; Performance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60152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1200"/>
              </a:spcBef>
              <a:defRPr sz="2000" b="1">
                <a:solidFill>
                  <a:srgbClr val="0D9488"/>
                </a:solidFill>
                <a:latin typeface="Outfit"/>
              </a:defRPr>
            </a:pPr>
            <a:r>
              <a:t>• Firestore Offline Persistence</a:t>
            </a:r>
          </a:p>
          <a:p>
            <a:pPr>
              <a:spcAft>
                <a:spcPts val="1200"/>
              </a:spcAft>
              <a:defRPr sz="1600">
                <a:solidFill>
                  <a:srgbClr val="FFFFFF"/>
                </a:solidFill>
                <a:latin typeface="Plus Jakarta Sans"/>
              </a:defRPr>
            </a:pPr>
            <a:r>
              <a:t>   Configured IndexedDB tab synchronization on initialization. Writes are cached locally instantly, removing database write lags.</a:t>
            </a:r>
          </a:p>
          <a:p>
            <a:pPr>
              <a:spcBef>
                <a:spcPts val="1200"/>
              </a:spcBef>
              <a:defRPr sz="2000" b="1">
                <a:solidFill>
                  <a:srgbClr val="0D9488"/>
                </a:solidFill>
                <a:latin typeface="Outfit"/>
              </a:defRPr>
            </a:pPr>
            <a:r>
              <a:t>• Zero Click Latency</a:t>
            </a:r>
          </a:p>
          <a:p>
            <a:pPr>
              <a:spcAft>
                <a:spcPts val="1200"/>
              </a:spcAft>
              <a:defRPr sz="1600">
                <a:solidFill>
                  <a:srgbClr val="FFFFFF"/>
                </a:solidFill>
                <a:latin typeface="Plus Jakarta Sans"/>
              </a:defRPr>
            </a:pPr>
            <a:r>
              <a:t>   Added touch-action CSS manipulation overrides to remove 300ms mobile tap delay, and 50ms active button scaling shrink effects.</a:t>
            </a:r>
          </a:p>
          <a:p>
            <a:pPr>
              <a:spcBef>
                <a:spcPts val="1200"/>
              </a:spcBef>
              <a:defRPr sz="2000" b="1">
                <a:solidFill>
                  <a:srgbClr val="0D9488"/>
                </a:solidFill>
                <a:latin typeface="Outfit"/>
              </a:defRPr>
            </a:pPr>
            <a:r>
              <a:t>• Graceful Local Caching &amp; Fallbacks</a:t>
            </a:r>
          </a:p>
          <a:p>
            <a:pPr>
              <a:spcAft>
                <a:spcPts val="1200"/>
              </a:spcAft>
              <a:defRPr sz="1600">
                <a:solidFill>
                  <a:srgbClr val="FFFFFF"/>
                </a:solidFill>
                <a:latin typeface="Plus Jakarta Sans"/>
              </a:defRPr>
            </a:pPr>
            <a:r>
              <a:t>   Any API error or permissions failure falls back automatically to local database storage to guarantee 100% uptime.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D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011680"/>
            <a:ext cx="10360152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D9488"/>
                </a:solidFill>
                <a:latin typeface="Outfit"/>
              </a:defRPr>
            </a:pPr>
            <a:r>
              <a:t>Making Healthcare Simple, Reliable &amp; Snap-Fast</a:t>
            </a:r>
          </a:p>
          <a:p>
            <a:pPr algn="ctr">
              <a:spcBef>
                <a:spcPts val="1500"/>
              </a:spcBef>
              <a:defRPr sz="2200" b="1">
                <a:solidFill>
                  <a:srgbClr val="FFFFFF"/>
                </a:solidFill>
                <a:latin typeface="Plus Jakarta Sans"/>
              </a:defRPr>
            </a:pPr>
            <a:r>
              <a:t>Medicare Reminder System</a:t>
            </a:r>
          </a:p>
          <a:p>
            <a:pPr algn="ctr">
              <a:spcBef>
                <a:spcPts val="1000"/>
              </a:spcBef>
              <a:defRPr sz="1800">
                <a:solidFill>
                  <a:srgbClr val="9CA3AF"/>
                </a:solidFill>
                <a:latin typeface="Plus Jakarta Sans"/>
              </a:defRPr>
            </a:pPr>
            <a:r>
              <a:t>Live App URL: medicine-reminder-navy-phi.vercel.app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