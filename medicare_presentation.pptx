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1645920"/>
            <a:ext cx="6400800" cy="4114800"/>
          </a:xfrm>
          <a:prstGeom prst="rect">
            <a:avLst/>
          </a:prstGeom>
          <a:noFill/>
        </p:spPr>
        <p:txBody>
          <a:bodyPr wrap="square">
            <a:spAutoFit/>
          </a:bodyPr>
          <a:lstStyle/>
          <a:p>
            <a:pPr>
              <a:defRPr sz="4800" b="1">
                <a:solidFill>
                  <a:srgbClr val="0D9488"/>
                </a:solidFill>
                <a:latin typeface="Outfit"/>
              </a:defRPr>
            </a:pPr>
            <a:r>
              <a:t>MediCare Reminder System</a:t>
            </a:r>
          </a:p>
          <a:p>
            <a:pPr>
              <a:spcBef>
                <a:spcPts val="1500"/>
              </a:spcBef>
              <a:defRPr sz="2200" b="1">
                <a:solidFill>
                  <a:srgbClr val="FFFFFF"/>
                </a:solidFill>
                <a:latin typeface="Plus Jakarta Sans"/>
              </a:defRPr>
            </a:pPr>
            <a:r>
              <a:t>Your Health, Our Priority</a:t>
            </a:r>
          </a:p>
          <a:p>
            <a:pPr>
              <a:spcBef>
                <a:spcPts val="1500"/>
              </a:spcBef>
              <a:defRPr sz="1600">
                <a:solidFill>
                  <a:srgbClr val="9CA3AF"/>
                </a:solidFill>
                <a:latin typeface="Plus Jakarta Sans"/>
              </a:defRPr>
            </a:pPr>
            <a:r>
              <a:t>An offline-first medication reminder and emergency SOS alert portal built for seniors and caregivers.</a:t>
            </a:r>
          </a:p>
        </p:txBody>
      </p:sp>
      <p:pic>
        <p:nvPicPr>
          <p:cNvPr id="3" name="Picture 2" descr="splash_screen.png"/>
          <p:cNvPicPr>
            <a:picLocks noChangeAspect="1"/>
          </p:cNvPicPr>
          <p:nvPr/>
        </p:nvPicPr>
        <p:blipFill>
          <a:blip r:embed="rId2"/>
          <a:stretch>
            <a:fillRect/>
          </a:stretch>
        </p:blipFill>
        <p:spPr>
          <a:xfrm>
            <a:off x="8229600" y="1097280"/>
            <a:ext cx="2286000" cy="4572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1. Abstract of Project</a:t>
            </a:r>
          </a:p>
        </p:txBody>
      </p:sp>
      <p:sp>
        <p:nvSpPr>
          <p:cNvPr id="3" name="TextBox 2"/>
          <p:cNvSpPr txBox="1"/>
          <p:nvPr/>
        </p:nvSpPr>
        <p:spPr>
          <a:xfrm>
            <a:off x="914400" y="1645920"/>
            <a:ext cx="10360152" cy="4572000"/>
          </a:xfrm>
          <a:prstGeom prst="rect">
            <a:avLst/>
          </a:prstGeom>
          <a:noFill/>
        </p:spPr>
        <p:txBody>
          <a:bodyPr wrap="square">
            <a:spAutoFit/>
          </a:bodyPr>
          <a:lstStyle/>
          <a:p>
            <a:pPr>
              <a:spcAft>
                <a:spcPts val="2000"/>
              </a:spcAft>
              <a:defRPr sz="1800">
                <a:solidFill>
                  <a:srgbClr val="FFFFFF"/>
                </a:solidFill>
                <a:latin typeface="Plus Jakarta Sans"/>
              </a:defRPr>
            </a:pPr>
            <a:r>
              <a:t>MediCare is a simple, smart web application designed to help elderly patients manage their daily pills without confusion. It acts as a safety companion that works offline even without internet, speaks reminders aloud, and keeps caregivers updated in real-time.</a:t>
            </a:r>
          </a:p>
          <a:p>
            <a:pPr>
              <a:spcAft>
                <a:spcPts val="1200"/>
              </a:spcAft>
              <a:defRPr sz="1600">
                <a:solidFill>
                  <a:srgbClr val="9CA3AF"/>
                </a:solidFill>
                <a:latin typeface="Plus Jakarta Sans"/>
              </a:defRPr>
            </a:pPr>
            <a:r>
              <a:t>✓ No Internet? No Problem! — Updates are saved instantly in the browser cache first and sync with the database later when online.</a:t>
            </a:r>
          </a:p>
          <a:p>
            <a:pPr>
              <a:spcAft>
                <a:spcPts val="1200"/>
              </a:spcAft>
              <a:defRPr sz="1600">
                <a:solidFill>
                  <a:srgbClr val="9CA3AF"/>
                </a:solidFill>
                <a:latin typeface="Plus Jakarta Sans"/>
              </a:defRPr>
            </a:pPr>
            <a:r>
              <a:t>✓ Hindi &amp; Telugu Support — Translates instructions, logs, and buttons into local languages so seniors can easily understand them.</a:t>
            </a:r>
          </a:p>
          <a:p>
            <a:pPr>
              <a:spcAft>
                <a:spcPts val="1200"/>
              </a:spcAft>
              <a:defRPr sz="1600">
                <a:solidFill>
                  <a:srgbClr val="9CA3AF"/>
                </a:solidFill>
                <a:latin typeface="Plus Jakarta Sans"/>
              </a:defRPr>
            </a:pPr>
            <a:r>
              <a:t>✓ One-Tap Doctor Dials — Direct calling actions placed directly inside the notifications to contact clinicians immediately.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2. Problem Statement</a:t>
            </a:r>
          </a:p>
        </p:txBody>
      </p:sp>
      <p:sp>
        <p:nvSpPr>
          <p:cNvPr id="3" name="TextBox 2"/>
          <p:cNvSpPr txBox="1"/>
          <p:nvPr/>
        </p:nvSpPr>
        <p:spPr>
          <a:xfrm>
            <a:off x="914400" y="1645920"/>
            <a:ext cx="10360152" cy="4572000"/>
          </a:xfrm>
          <a:prstGeom prst="rect">
            <a:avLst/>
          </a:prstGeom>
          <a:noFill/>
        </p:spPr>
        <p:txBody>
          <a:bodyPr wrap="square">
            <a:spAutoFit/>
          </a:bodyPr>
          <a:lstStyle/>
          <a:p>
            <a:pPr>
              <a:spcAft>
                <a:spcPts val="2500"/>
              </a:spcAft>
              <a:defRPr sz="2000">
                <a:solidFill>
                  <a:srgbClr val="FFFFFF"/>
                </a:solidFill>
                <a:latin typeface="Plus Jakarta Sans"/>
              </a:defRPr>
            </a:pPr>
            <a:r>
              <a:t>Many people forget to take their medicines on time because of busy schedules, old age, or memory problems. Missing medicines can cause serious health issues and reduce treatment effectiveness. Patients need a simple system that reminds them about medicine timings regularly.</a:t>
            </a:r>
          </a:p>
          <a:p>
            <a:pPr>
              <a:spcBef>
                <a:spcPts val="1000"/>
              </a:spcBef>
              <a:defRPr sz="2000">
                <a:solidFill>
                  <a:srgbClr val="0D9488"/>
                </a:solidFill>
                <a:latin typeface="Plus Jakarta Sans"/>
              </a:defRPr>
            </a:pPr>
            <a:r>
              <a:t>The Medicine Reminder App is developed to solve this problem by giving alerts and reminders to users at the correct time. This helps people take medicines properly and improve their health care management.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3. Existing and Proposed System</a:t>
            </a:r>
          </a:p>
        </p:txBody>
      </p:sp>
      <p:sp>
        <p:nvSpPr>
          <p:cNvPr id="3" name="TextBox 2"/>
          <p:cNvSpPr txBox="1"/>
          <p:nvPr/>
        </p:nvSpPr>
        <p:spPr>
          <a:xfrm>
            <a:off x="914400" y="1645920"/>
            <a:ext cx="4754880" cy="4572000"/>
          </a:xfrm>
          <a:prstGeom prst="rect">
            <a:avLst/>
          </a:prstGeom>
          <a:noFill/>
        </p:spPr>
        <p:txBody>
          <a:bodyPr wrap="square">
            <a:spAutoFit/>
          </a:bodyPr>
          <a:lstStyle/>
          <a:p>
            <a:pPr>
              <a:spcAft>
                <a:spcPts val="1500"/>
              </a:spcAft>
              <a:defRPr sz="2200" b="1">
                <a:solidFill>
                  <a:srgbClr val="F43F5E"/>
                </a:solidFill>
                <a:latin typeface="Outfit"/>
              </a:defRPr>
            </a:pPr>
            <a:r>
              <a:t>Existing Systems (The Old Way)</a:t>
            </a:r>
          </a:p>
          <a:p>
            <a:pPr>
              <a:spcAft>
                <a:spcPts val="1000"/>
              </a:spcAft>
              <a:defRPr sz="1500">
                <a:solidFill>
                  <a:srgbClr val="9CA3AF"/>
                </a:solidFill>
                <a:latin typeface="Plus Jakarta Sans"/>
              </a:defRPr>
            </a:pPr>
            <a:r>
              <a:t>• Manual paper logs that are easily lost or misplaced.</a:t>
            </a:r>
          </a:p>
          <a:p>
            <a:pPr>
              <a:spcAft>
                <a:spcPts val="1000"/>
              </a:spcAft>
              <a:defRPr sz="1500">
                <a:solidFill>
                  <a:srgbClr val="9CA3AF"/>
                </a:solidFill>
                <a:latin typeface="Plus Jakarta Sans"/>
              </a:defRPr>
            </a:pPr>
            <a:r>
              <a:t>• Apps freeze and block user actions when database syncing takes too long.</a:t>
            </a:r>
          </a:p>
          <a:p>
            <a:pPr>
              <a:spcAft>
                <a:spcPts val="1000"/>
              </a:spcAft>
              <a:defRPr sz="1500">
                <a:solidFill>
                  <a:srgbClr val="9CA3AF"/>
                </a:solidFill>
                <a:latin typeface="Plus Jakarta Sans"/>
              </a:defRPr>
            </a:pPr>
            <a:r>
              <a:t>• No simple panic triggers or automated caregiver sync updates.</a:t>
            </a:r>
          </a:p>
          <a:p>
            <a:pPr>
              <a:spcAft>
                <a:spcPts val="1000"/>
              </a:spcAft>
              <a:defRPr sz="1500">
                <a:solidFill>
                  <a:srgbClr val="9CA3AF"/>
                </a:solidFill>
                <a:latin typeface="Plus Jakarta Sans"/>
              </a:defRPr>
            </a:pPr>
            <a:r>
              <a:t>• No local translation options for rural users.</a:t>
            </a:r>
          </a:p>
        </p:txBody>
      </p:sp>
      <p:sp>
        <p:nvSpPr>
          <p:cNvPr id="4" name="TextBox 3"/>
          <p:cNvSpPr txBox="1"/>
          <p:nvPr/>
        </p:nvSpPr>
        <p:spPr>
          <a:xfrm>
            <a:off x="6400800" y="1645920"/>
            <a:ext cx="4846320" cy="4572000"/>
          </a:xfrm>
          <a:prstGeom prst="rect">
            <a:avLst/>
          </a:prstGeom>
          <a:noFill/>
        </p:spPr>
        <p:txBody>
          <a:bodyPr wrap="square">
            <a:spAutoFit/>
          </a:bodyPr>
          <a:lstStyle/>
          <a:p>
            <a:pPr>
              <a:spcAft>
                <a:spcPts val="1500"/>
              </a:spcAft>
              <a:defRPr sz="2200" b="1">
                <a:solidFill>
                  <a:srgbClr val="0D9488"/>
                </a:solidFill>
                <a:latin typeface="Outfit"/>
              </a:defRPr>
            </a:pPr>
            <a:r>
              <a:t>Proposed System (Medicare)</a:t>
            </a:r>
          </a:p>
          <a:p>
            <a:pPr>
              <a:spcAft>
                <a:spcPts val="1000"/>
              </a:spcAft>
              <a:defRPr sz="1500">
                <a:solidFill>
                  <a:srgbClr val="FFFFFF"/>
                </a:solidFill>
                <a:latin typeface="Plus Jakarta Sans"/>
              </a:defRPr>
            </a:pPr>
            <a:r>
              <a:t>✓ Zero Database Lag: Browser cache saves inputs instantly.</a:t>
            </a:r>
          </a:p>
          <a:p>
            <a:pPr>
              <a:spcAft>
                <a:spcPts val="1000"/>
              </a:spcAft>
              <a:defRPr sz="1500">
                <a:solidFill>
                  <a:srgbClr val="FFFFFF"/>
                </a:solidFill>
                <a:latin typeface="Plus Jakarta Sans"/>
              </a:defRPr>
            </a:pPr>
            <a:r>
              <a:t>✓ 0.05s button active feedback and fast modal animations.</a:t>
            </a:r>
          </a:p>
          <a:p>
            <a:pPr>
              <a:spcAft>
                <a:spcPts val="1000"/>
              </a:spcAft>
              <a:defRPr sz="1500">
                <a:solidFill>
                  <a:srgbClr val="FFFFFF"/>
                </a:solidFill>
                <a:latin typeface="Plus Jakarta Sans"/>
              </a:defRPr>
            </a:pPr>
            <a:r>
              <a:t>✓ One-click SOS sirens, direct clinician dialing, and Speak Aloud helper.</a:t>
            </a:r>
          </a:p>
          <a:p>
            <a:pPr>
              <a:spcAft>
                <a:spcPts val="1000"/>
              </a:spcAft>
              <a:defRPr sz="1500">
                <a:solidFill>
                  <a:srgbClr val="FFFFFF"/>
                </a:solidFill>
                <a:latin typeface="Plus Jakarta Sans"/>
              </a:defRPr>
            </a:pPr>
            <a:r>
              <a:t>✓ Fully dynamic Telugu and Hindi localizations.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4. Hardware and Software Requirements</a:t>
            </a:r>
          </a:p>
        </p:txBody>
      </p:sp>
      <p:sp>
        <p:nvSpPr>
          <p:cNvPr id="3" name="TextBox 2"/>
          <p:cNvSpPr txBox="1"/>
          <p:nvPr/>
        </p:nvSpPr>
        <p:spPr>
          <a:xfrm>
            <a:off x="914400" y="1645920"/>
            <a:ext cx="4754880" cy="4572000"/>
          </a:xfrm>
          <a:prstGeom prst="rect">
            <a:avLst/>
          </a:prstGeom>
          <a:noFill/>
        </p:spPr>
        <p:txBody>
          <a:bodyPr wrap="square">
            <a:spAutoFit/>
          </a:bodyPr>
          <a:lstStyle/>
          <a:p>
            <a:pPr>
              <a:spcAft>
                <a:spcPts val="1500"/>
              </a:spcAft>
              <a:defRPr sz="2200" b="1">
                <a:solidFill>
                  <a:srgbClr val="0D9488"/>
                </a:solidFill>
                <a:latin typeface="Outfit"/>
              </a:defRPr>
            </a:pPr>
            <a:r>
              <a:t>Hardware Requirements</a:t>
            </a:r>
          </a:p>
          <a:p>
            <a:pPr>
              <a:spcAft>
                <a:spcPts val="1000"/>
              </a:spcAft>
              <a:defRPr sz="1600">
                <a:solidFill>
                  <a:srgbClr val="FFFFFF"/>
                </a:solidFill>
                <a:latin typeface="Plus Jakarta Sans"/>
              </a:defRPr>
            </a:pPr>
            <a:r>
              <a:t>• User Devices: Smartphone, Tablet, or PC.</a:t>
            </a:r>
          </a:p>
          <a:p>
            <a:pPr>
              <a:spcAft>
                <a:spcPts val="1000"/>
              </a:spcAft>
              <a:defRPr sz="1600">
                <a:solidFill>
                  <a:srgbClr val="FFFFFF"/>
                </a:solidFill>
                <a:latin typeface="Plus Jakarta Sans"/>
              </a:defRPr>
            </a:pPr>
            <a:r>
              <a:t>• Processor: Intel Core i3 or mobile SoC equivalent.</a:t>
            </a:r>
          </a:p>
          <a:p>
            <a:pPr>
              <a:spcAft>
                <a:spcPts val="1000"/>
              </a:spcAft>
              <a:defRPr sz="1600">
                <a:solidFill>
                  <a:srgbClr val="FFFFFF"/>
                </a:solidFill>
                <a:latin typeface="Plus Jakarta Sans"/>
              </a:defRPr>
            </a:pPr>
            <a:r>
              <a:t>• System Memory: 2 GB RAM minimum.</a:t>
            </a:r>
          </a:p>
          <a:p>
            <a:pPr>
              <a:spcAft>
                <a:spcPts val="1000"/>
              </a:spcAft>
              <a:defRPr sz="1600">
                <a:solidFill>
                  <a:srgbClr val="FFFFFF"/>
                </a:solidFill>
                <a:latin typeface="Plus Jakarta Sans"/>
              </a:defRPr>
            </a:pPr>
            <a:r>
              <a:t>• Storage: 100 MB local disk storage.</a:t>
            </a:r>
          </a:p>
          <a:p>
            <a:pPr>
              <a:spcAft>
                <a:spcPts val="1000"/>
              </a:spcAft>
              <a:defRPr sz="1600">
                <a:solidFill>
                  <a:srgbClr val="FFFFFF"/>
                </a:solidFill>
                <a:latin typeface="Plus Jakarta Sans"/>
              </a:defRPr>
            </a:pPr>
            <a:r>
              <a:t>• Screen: Touch display recommended for mobile ease.</a:t>
            </a:r>
          </a:p>
        </p:txBody>
      </p:sp>
      <p:sp>
        <p:nvSpPr>
          <p:cNvPr id="4" name="TextBox 3"/>
          <p:cNvSpPr txBox="1"/>
          <p:nvPr/>
        </p:nvSpPr>
        <p:spPr>
          <a:xfrm>
            <a:off x="6400800" y="1645920"/>
            <a:ext cx="4846320" cy="4572000"/>
          </a:xfrm>
          <a:prstGeom prst="rect">
            <a:avLst/>
          </a:prstGeom>
          <a:noFill/>
        </p:spPr>
        <p:txBody>
          <a:bodyPr wrap="square">
            <a:spAutoFit/>
          </a:bodyPr>
          <a:lstStyle/>
          <a:p>
            <a:pPr>
              <a:spcAft>
                <a:spcPts val="1500"/>
              </a:spcAft>
              <a:defRPr sz="2200" b="1">
                <a:solidFill>
                  <a:srgbClr val="0D9488"/>
                </a:solidFill>
                <a:latin typeface="Outfit"/>
              </a:defRPr>
            </a:pPr>
            <a:r>
              <a:t>Software Requirements</a:t>
            </a:r>
          </a:p>
          <a:p>
            <a:pPr>
              <a:spcAft>
                <a:spcPts val="1000"/>
              </a:spcAft>
              <a:defRPr sz="1600">
                <a:solidFill>
                  <a:srgbClr val="FFFFFF"/>
                </a:solidFill>
                <a:latin typeface="Plus Jakarta Sans"/>
              </a:defRPr>
            </a:pPr>
            <a:r>
              <a:t>• OS: Windows, macOS, Android, or iOS.</a:t>
            </a:r>
          </a:p>
          <a:p>
            <a:pPr>
              <a:spcAft>
                <a:spcPts val="1000"/>
              </a:spcAft>
              <a:defRPr sz="1600">
                <a:solidFill>
                  <a:srgbClr val="FFFFFF"/>
                </a:solidFill>
                <a:latin typeface="Plus Jakarta Sans"/>
              </a:defRPr>
            </a:pPr>
            <a:r>
              <a:t>• Web Browsers: Chrome, Safari, Edge, or Firefox.</a:t>
            </a:r>
          </a:p>
          <a:p>
            <a:pPr>
              <a:spcAft>
                <a:spcPts val="1000"/>
              </a:spcAft>
              <a:defRPr sz="1600">
                <a:solidFill>
                  <a:srgbClr val="FFFFFF"/>
                </a:solidFill>
                <a:latin typeface="Plus Jakarta Sans"/>
              </a:defRPr>
            </a:pPr>
            <a:r>
              <a:t>• Dev Tools: HTML5, CSS3, ES6+ Javascript.</a:t>
            </a:r>
          </a:p>
          <a:p>
            <a:pPr>
              <a:spcAft>
                <a:spcPts val="1000"/>
              </a:spcAft>
              <a:defRPr sz="1600">
                <a:solidFill>
                  <a:srgbClr val="FFFFFF"/>
                </a:solidFill>
                <a:latin typeface="Plus Jakarta Sans"/>
              </a:defRPr>
            </a:pPr>
            <a:r>
              <a:t>• Database Engine: Cloud Firestore with IndexedDB.</a:t>
            </a:r>
          </a:p>
          <a:p>
            <a:pPr>
              <a:spcAft>
                <a:spcPts val="1000"/>
              </a:spcAft>
              <a:defRPr sz="1600">
                <a:solidFill>
                  <a:srgbClr val="FFFFFF"/>
                </a:solidFill>
                <a:latin typeface="Plus Jakarta Sans"/>
              </a:defRPr>
            </a:pPr>
            <a:r>
              <a:t>• Deployment Host: Vercel Production Environment.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5. System Architecture</a:t>
            </a:r>
          </a:p>
        </p:txBody>
      </p:sp>
      <p:sp>
        <p:nvSpPr>
          <p:cNvPr id="3" name="TextBox 2"/>
          <p:cNvSpPr txBox="1"/>
          <p:nvPr/>
        </p:nvSpPr>
        <p:spPr>
          <a:xfrm>
            <a:off x="914400" y="1645920"/>
            <a:ext cx="10360152" cy="4572000"/>
          </a:xfrm>
          <a:prstGeom prst="rect">
            <a:avLst/>
          </a:prstGeom>
          <a:noFill/>
        </p:spPr>
        <p:txBody>
          <a:bodyPr wrap="square">
            <a:spAutoFit/>
          </a:bodyPr>
          <a:lstStyle/>
          <a:p>
            <a:pPr>
              <a:spcAft>
                <a:spcPts val="2000"/>
              </a:spcAft>
              <a:defRPr sz="1800">
                <a:solidFill>
                  <a:srgbClr val="9CA3AF"/>
                </a:solidFill>
                <a:latin typeface="Plus Jakarta Sans"/>
              </a:defRPr>
            </a:pPr>
            <a:r>
              <a:t>The platform is separated into three simple components to guarantee speed and security:</a:t>
            </a:r>
          </a:p>
          <a:p>
            <a:pPr>
              <a:spcBef>
                <a:spcPts val="1000"/>
              </a:spcBef>
              <a:defRPr sz="1800" b="1">
                <a:solidFill>
                  <a:srgbClr val="0D9488"/>
                </a:solidFill>
                <a:latin typeface="Outfit"/>
              </a:defRPr>
            </a:pPr>
            <a:r>
              <a:t>1. User Interface (Front End)</a:t>
            </a:r>
          </a:p>
          <a:p>
            <a:pPr>
              <a:defRPr sz="1500">
                <a:solidFill>
                  <a:srgbClr val="FFFFFF"/>
                </a:solidFill>
                <a:latin typeface="Plus Jakarta Sans"/>
              </a:defRPr>
            </a:pPr>
            <a:r>
              <a:t>   Captures taps, plays siren warnings, and formats translated text instantly.</a:t>
            </a:r>
          </a:p>
          <a:p>
            <a:pPr>
              <a:spcBef>
                <a:spcPts val="1000"/>
              </a:spcBef>
              <a:defRPr sz="1800" b="1">
                <a:solidFill>
                  <a:srgbClr val="0D9488"/>
                </a:solidFill>
                <a:latin typeface="Outfit"/>
              </a:defRPr>
            </a:pPr>
            <a:r>
              <a:t>2. Local Cache (IndexedDB)</a:t>
            </a:r>
          </a:p>
          <a:p>
            <a:pPr>
              <a:defRPr sz="1500">
                <a:solidFill>
                  <a:srgbClr val="FFFFFF"/>
                </a:solidFill>
                <a:latin typeface="Plus Jakarta Sans"/>
              </a:defRPr>
            </a:pPr>
            <a:r>
              <a:t>   Saves and retrieves data instantly in browser memory, preventing database save locks.</a:t>
            </a:r>
          </a:p>
          <a:p>
            <a:pPr>
              <a:spcBef>
                <a:spcPts val="1000"/>
              </a:spcBef>
              <a:defRPr sz="1800" b="1">
                <a:solidFill>
                  <a:srgbClr val="0D9488"/>
                </a:solidFill>
                <a:latin typeface="Outfit"/>
              </a:defRPr>
            </a:pPr>
            <a:r>
              <a:t>3. Cloud Sync (Firebase Engine)</a:t>
            </a:r>
          </a:p>
          <a:p>
            <a:pPr>
              <a:defRPr sz="1500">
                <a:solidFill>
                  <a:srgbClr val="FFFFFF"/>
                </a:solidFill>
                <a:latin typeface="Plus Jakarta Sans"/>
              </a:defRPr>
            </a:pPr>
            <a:r>
              <a:t>   Uploads local logs to the caregiver database automatically when internet is active.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Splash Screen</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Modern App Welcome Screen</a:t>
            </a:r>
          </a:p>
          <a:p>
            <a:pPr>
              <a:spcAft>
                <a:spcPts val="1000"/>
              </a:spcAft>
              <a:defRPr sz="1500">
                <a:solidFill>
                  <a:srgbClr val="FFFFFF"/>
                </a:solidFill>
                <a:latin typeface="Plus Jakarta Sans"/>
              </a:defRPr>
            </a:pPr>
            <a:r>
              <a:t>   Deep charcoal theme styled to match mobile form factors natively.</a:t>
            </a:r>
          </a:p>
          <a:p>
            <a:pPr>
              <a:spcBef>
                <a:spcPts val="1000"/>
              </a:spcBef>
              <a:defRPr sz="1800" b="1">
                <a:solidFill>
                  <a:srgbClr val="0D9488"/>
                </a:solidFill>
                <a:latin typeface="Outfit"/>
              </a:defRPr>
            </a:pPr>
            <a:r>
              <a:t>• Two Access Portals</a:t>
            </a:r>
          </a:p>
          <a:p>
            <a:pPr>
              <a:spcAft>
                <a:spcPts val="1000"/>
              </a:spcAft>
              <a:defRPr sz="1500">
                <a:solidFill>
                  <a:srgbClr val="FFFFFF"/>
                </a:solidFill>
                <a:latin typeface="Plus Jakarta Sans"/>
              </a:defRPr>
            </a:pPr>
            <a:r>
              <a:t>   Gives simple routes for Patients to view cards and Caregivers to monitor logs.</a:t>
            </a:r>
          </a:p>
          <a:p>
            <a:pPr>
              <a:spcBef>
                <a:spcPts val="1000"/>
              </a:spcBef>
              <a:defRPr sz="1800" b="1">
                <a:solidFill>
                  <a:srgbClr val="0D9488"/>
                </a:solidFill>
                <a:latin typeface="Outfit"/>
              </a:defRPr>
            </a:pPr>
            <a:r>
              <a:t>• Bold Color Accents</a:t>
            </a:r>
          </a:p>
          <a:p>
            <a:pPr>
              <a:spcAft>
                <a:spcPts val="1000"/>
              </a:spcAft>
              <a:defRPr sz="1500">
                <a:solidFill>
                  <a:srgbClr val="FFFFFF"/>
                </a:solidFill>
                <a:latin typeface="Plus Jakarta Sans"/>
              </a:defRPr>
            </a:pPr>
            <a:r>
              <a:t>   Vibrant colors make text readable for senior citizens.</a:t>
            </a:r>
          </a:p>
        </p:txBody>
      </p:sp>
      <p:pic>
        <p:nvPicPr>
          <p:cNvPr id="4" name="Picture 3" descr="splash_screen.png"/>
          <p:cNvPicPr>
            <a:picLocks noChangeAspect="1"/>
          </p:cNvPicPr>
          <p:nvPr/>
        </p:nvPicPr>
        <p:blipFill>
          <a:blip r:embed="rId2"/>
          <a:stretch>
            <a:fillRect/>
          </a:stretch>
        </p:blipFill>
        <p:spPr>
          <a:xfrm>
            <a:off x="7772400" y="1097280"/>
            <a:ext cx="2286000"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Dose Alert Modal</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Overlay Reminder Card</a:t>
            </a:r>
          </a:p>
          <a:p>
            <a:pPr>
              <a:spcAft>
                <a:spcPts val="1000"/>
              </a:spcAft>
              <a:defRPr sz="1500">
                <a:solidFill>
                  <a:srgbClr val="FFFFFF"/>
                </a:solidFill>
                <a:latin typeface="Plus Jakarta Sans"/>
              </a:defRPr>
            </a:pPr>
            <a:r>
              <a:t>   Alert opens immediately when a scheduled medicine is due, showing pill quantity and details.</a:t>
            </a:r>
          </a:p>
          <a:p>
            <a:pPr>
              <a:spcBef>
                <a:spcPts val="1000"/>
              </a:spcBef>
              <a:defRPr sz="1800" b="1">
                <a:solidFill>
                  <a:srgbClr val="0D9488"/>
                </a:solidFill>
                <a:latin typeface="Outfit"/>
              </a:defRPr>
            </a:pPr>
            <a:r>
              <a:t>• Instant Doctor Call Button</a:t>
            </a:r>
          </a:p>
          <a:p>
            <a:pPr>
              <a:spcAft>
                <a:spcPts val="1000"/>
              </a:spcAft>
              <a:defRPr sz="1500">
                <a:solidFill>
                  <a:srgbClr val="FFFFFF"/>
                </a:solidFill>
                <a:latin typeface="Plus Jakarta Sans"/>
              </a:defRPr>
            </a:pPr>
            <a:r>
              <a:t>   Let seniors click to call their primary doctor immediately during complications.</a:t>
            </a:r>
          </a:p>
          <a:p>
            <a:pPr>
              <a:spcBef>
                <a:spcPts val="1000"/>
              </a:spcBef>
              <a:defRPr sz="1800" b="1">
                <a:solidFill>
                  <a:srgbClr val="0D9488"/>
                </a:solidFill>
                <a:latin typeface="Outfit"/>
              </a:defRPr>
            </a:pPr>
            <a:r>
              <a:t>• Tactile Feedback Actions</a:t>
            </a:r>
          </a:p>
          <a:p>
            <a:pPr>
              <a:spcAft>
                <a:spcPts val="1000"/>
              </a:spcAft>
              <a:defRPr sz="1500">
                <a:solidFill>
                  <a:srgbClr val="FFFFFF"/>
                </a:solidFill>
                <a:latin typeface="Plus Jakarta Sans"/>
              </a:defRPr>
            </a:pPr>
            <a:r>
              <a:t>   Mark pill intake Taken or Snooze it for 10 minutes with instant tap responses.</a:t>
            </a:r>
          </a:p>
        </p:txBody>
      </p:sp>
      <p:pic>
        <p:nvPicPr>
          <p:cNvPr id="4" name="Picture 3" descr="dose_due.png"/>
          <p:cNvPicPr>
            <a:picLocks noChangeAspect="1"/>
          </p:cNvPicPr>
          <p:nvPr/>
        </p:nvPicPr>
        <p:blipFill>
          <a:blip r:embed="rId2"/>
          <a:stretch>
            <a:fillRect/>
          </a:stretch>
        </p:blipFill>
        <p:spPr>
          <a:xfrm>
            <a:off x="6858000" y="1645920"/>
            <a:ext cx="4114800" cy="3657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SOS Emergency Alert</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Loud Local Siren Alarms</a:t>
            </a:r>
          </a:p>
          <a:p>
            <a:pPr>
              <a:spcAft>
                <a:spcPts val="1000"/>
              </a:spcAft>
              <a:defRPr sz="1500">
                <a:solidFill>
                  <a:srgbClr val="FFFFFF"/>
                </a:solidFill>
                <a:latin typeface="Plus Jakarta Sans"/>
              </a:defRPr>
            </a:pPr>
            <a:r>
              <a:t>   Plays siren warnings and notifies caregiver dashboards immediately.</a:t>
            </a:r>
          </a:p>
          <a:p>
            <a:pPr>
              <a:spcBef>
                <a:spcPts val="1000"/>
              </a:spcBef>
              <a:defRPr sz="1800" b="1">
                <a:solidFill>
                  <a:srgbClr val="0D9488"/>
                </a:solidFill>
                <a:latin typeface="Outfit"/>
              </a:defRPr>
            </a:pPr>
            <a:r>
              <a:t>• Direct Calling Action List</a:t>
            </a:r>
          </a:p>
          <a:p>
            <a:pPr>
              <a:spcAft>
                <a:spcPts val="1000"/>
              </a:spcAft>
              <a:defRPr sz="1500">
                <a:solidFill>
                  <a:srgbClr val="FFFFFF"/>
                </a:solidFill>
                <a:latin typeface="Plus Jakarta Sans"/>
              </a:defRPr>
            </a:pPr>
            <a:r>
              <a:t>   Aggregated emergency contacts, doctor numbers, and ambulances (108 / 112).</a:t>
            </a:r>
          </a:p>
          <a:p>
            <a:pPr>
              <a:spcBef>
                <a:spcPts val="1000"/>
              </a:spcBef>
              <a:defRPr sz="1800" b="1">
                <a:solidFill>
                  <a:srgbClr val="0D9488"/>
                </a:solidFill>
                <a:latin typeface="Outfit"/>
              </a:defRPr>
            </a:pPr>
            <a:r>
              <a:t>• Quick Dismiss Trigger</a:t>
            </a:r>
          </a:p>
          <a:p>
            <a:pPr>
              <a:spcAft>
                <a:spcPts val="1000"/>
              </a:spcAft>
              <a:defRPr sz="1500">
                <a:solidFill>
                  <a:srgbClr val="FFFFFF"/>
                </a:solidFill>
                <a:latin typeface="Plus Jakarta Sans"/>
              </a:defRPr>
            </a:pPr>
            <a:r>
              <a:t>   High-contrast deactivate button lets the user cancel sirens as soon as they are safe.</a:t>
            </a:r>
          </a:p>
        </p:txBody>
      </p:sp>
      <p:pic>
        <p:nvPicPr>
          <p:cNvPr id="4" name="Picture 3" descr="sos_alert.png"/>
          <p:cNvPicPr>
            <a:picLocks noChangeAspect="1"/>
          </p:cNvPicPr>
          <p:nvPr/>
        </p:nvPicPr>
        <p:blipFill>
          <a:blip r:embed="rId2"/>
          <a:stretch>
            <a:fillRect/>
          </a:stretch>
        </p:blipFill>
        <p:spPr>
          <a:xfrm>
            <a:off x="6858000" y="1645920"/>
            <a:ext cx="4114800" cy="3657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1645920"/>
            <a:ext cx="5943600" cy="4114800"/>
          </a:xfrm>
          <a:prstGeom prst="rect">
            <a:avLst/>
          </a:prstGeom>
          <a:noFill/>
        </p:spPr>
        <p:txBody>
          <a:bodyPr wrap="square">
            <a:spAutoFit/>
          </a:bodyPr>
          <a:lstStyle/>
          <a:p>
            <a:pPr>
              <a:defRPr sz="3600" b="1">
                <a:solidFill>
                  <a:srgbClr val="0D9488"/>
                </a:solidFill>
                <a:latin typeface="Outfit"/>
              </a:defRPr>
            </a:pPr>
            <a:r>
              <a:t>Simple, Safe &amp; Reliable</a:t>
            </a:r>
          </a:p>
          <a:p>
            <a:pPr>
              <a:spcBef>
                <a:spcPts val="1500"/>
              </a:spcBef>
              <a:defRPr sz="1800">
                <a:solidFill>
                  <a:srgbClr val="FFFFFF"/>
                </a:solidFill>
                <a:latin typeface="Plus Jakarta Sans"/>
              </a:defRPr>
            </a:pPr>
            <a:r>
              <a:t>Medicare bridges the gap between patient compliance and caregiver peace-of-mind by resolving cloud delays, network timeouts, and language barriers.</a:t>
            </a:r>
          </a:p>
          <a:p>
            <a:pPr>
              <a:spcBef>
                <a:spcPts val="1500"/>
              </a:spcBef>
              <a:defRPr sz="1600">
                <a:solidFill>
                  <a:srgbClr val="9CA3AF"/>
                </a:solidFill>
                <a:latin typeface="Plus Jakarta Sans"/>
              </a:defRPr>
            </a:pPr>
            <a:r>
              <a:t>Live App URL: medicine-reminder-navy-phi.vercel.app</a:t>
            </a:r>
          </a:p>
        </p:txBody>
      </p:sp>
      <p:pic>
        <p:nvPicPr>
          <p:cNvPr id="3" name="Picture 2" descr="dose_due.png"/>
          <p:cNvPicPr>
            <a:picLocks noChangeAspect="1"/>
          </p:cNvPicPr>
          <p:nvPr/>
        </p:nvPicPr>
        <p:blipFill>
          <a:blip r:embed="rId2"/>
          <a:stretch>
            <a:fillRect/>
          </a:stretch>
        </p:blipFill>
        <p:spPr>
          <a:xfrm>
            <a:off x="7315200" y="1645920"/>
            <a:ext cx="3840480" cy="3291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